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-115" y="-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457200"/>
            <a:ext cx="4754880" cy="4754880"/>
          </a:xfrm>
          <a:prstGeom prst="arc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297680"/>
            <a:ext cx="3749040" cy="3749040"/>
          </a:xfrm>
          <a:prstGeom prst="arc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85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2FE"/>
                </a:solidFill>
              </a:rPr>
              <a:t>Minor Capstone Project Presentation (2026)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Reimbursement Portal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8E1EF"/>
                </a:solidFill>
              </a:rPr>
              <a:t>A role-based web application for submitting, tracking, reviewing, and managing employee reimbursement claims.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3886200"/>
            <a:ext cx="4983480" cy="11430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0160">
            <a:solidFill>
              <a:srgbClr val="293A55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60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 - Garv Singh Chouhan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5D8"/>
                </a:solidFill>
              </a:rPr>
              <a:t>Submission Date - 28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43800" y="4160520"/>
            <a:ext cx="111556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71816" y="43068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90104" y="459943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users + claims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006840" y="4160520"/>
            <a:ext cx="111556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4856" y="43068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53144" y="459943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review claims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69880" y="4160520"/>
            <a:ext cx="111556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97896" y="43068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EMPLOYEE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16184" y="459943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submit claims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659368" y="4480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22408" y="4480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Deck 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Content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1225296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00200" y="1344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Introduction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Problem statement, objective, and expected outcome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395728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00200" y="2514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Features and Functionality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600200" y="27980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Role-wise capabilities and approval flow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85800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566160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00200" y="3685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Tech Stack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600200" y="39684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Frontend, backend, database, security, and testing tools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85800" y="48097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4736592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00200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Architecture Diagram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600200" y="51389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Client, API, service, repository, and database layers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355080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40880" y="1225296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1344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Entity-Relationship Diagram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269480" y="16276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Users, claims, managers, reviewers, and statuses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355080" y="2468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40880" y="2395728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9480" y="2514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Data Flow Diagram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7269480" y="27980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Login, claim submission, review, and claim history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355080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07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40880" y="3566160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3685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2033"/>
                </a:solidFill>
              </a:rPr>
              <a:t>Snapshots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269480" y="39684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Login, employee, manager, and admin screens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Project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Introduction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89204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5361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Project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938528"/>
            <a:ext cx="406908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30" dirty="0">
                <a:solidFill>
                  <a:srgbClr val="102033"/>
                </a:solidFill>
              </a:rPr>
              <a:t>Digitize the employee reimbursement lifecycle from claim submission to final approval or rejection.</a:t>
            </a:r>
            <a:endParaRPr lang="en-US" sz="1230" dirty="0"/>
          </a:p>
          <a:p>
            <a:endParaRPr lang="en-US" sz="1230" dirty="0"/>
          </a:p>
          <a:p>
            <a:r>
              <a:rPr lang="en-US" sz="1230" dirty="0">
                <a:solidFill>
                  <a:srgbClr val="102033"/>
                </a:solidFill>
              </a:rPr>
              <a:t>Provide role-based access for Admin, Manager, and Employee users.</a:t>
            </a:r>
            <a:endParaRPr lang="en-US" sz="1230" dirty="0"/>
          </a:p>
          <a:p>
            <a:endParaRPr lang="en-US" sz="1230" dirty="0"/>
          </a:p>
          <a:p>
            <a:r>
              <a:rPr lang="en-US" sz="1230" dirty="0">
                <a:solidFill>
                  <a:srgbClr val="102033"/>
                </a:solidFill>
              </a:rPr>
              <a:t>Standardize claim data, reviewer comments, status tracking, and pagination.</a:t>
            </a:r>
            <a:endParaRPr lang="en-US" sz="1230" dirty="0"/>
          </a:p>
          <a:p>
            <a:endParaRPr lang="en-US" sz="1230" dirty="0"/>
          </a:p>
          <a:p>
            <a:r>
              <a:rPr lang="en-US" sz="1230" dirty="0">
                <a:solidFill>
                  <a:srgbClr val="102033"/>
                </a:solidFill>
              </a:rPr>
              <a:t>Reduce manual follow-up by making claim ownership and current status visible.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5440680" cy="4343400"/>
          </a:xfrm>
          <a:prstGeom prst="roundRect">
            <a:avLst>
              <a:gd name="adj" fmla="val 1053"/>
            </a:avLst>
          </a:prstGeom>
          <a:solidFill>
            <a:srgbClr val="101A2B"/>
          </a:solidFill>
          <a:ln w="10160">
            <a:solidFill>
              <a:srgbClr val="101A2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 Solved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240280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28816" y="2386584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Employee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47104" y="2679192"/>
            <a:ext cx="10332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submits amount, date, and description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699248" y="2615184"/>
            <a:ext cx="329184" cy="256032"/>
          </a:xfrm>
          <a:prstGeom prst="line">
            <a:avLst/>
          </a:prstGeom>
          <a:noFill/>
          <a:ln w="1905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2624328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29016" y="2770632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Reviewer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304" y="3063240"/>
            <a:ext cx="10332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approves or rejects with comment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299448" y="2999232"/>
            <a:ext cx="329184" cy="256032"/>
          </a:xfrm>
          <a:prstGeom prst="line">
            <a:avLst/>
          </a:prstGeom>
          <a:noFill/>
          <a:ln w="1905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3008376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315468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47504" y="3447288"/>
            <a:ext cx="10332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manages users, managers, and all claims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355080" y="46177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1384" y="4764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46E5"/>
                </a:solidFill>
              </a:rPr>
              <a:t>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19672" y="5148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778"/>
                </a:solidFill>
              </a:rPr>
              <a:t>application roles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8778240" y="46177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24544" y="4764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B981"/>
                </a:solidFill>
              </a:rPr>
              <a:t>2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942832" y="5148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778"/>
                </a:solidFill>
              </a:rPr>
              <a:t>core entities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Role-Based Capabilities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Features and Functionality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243584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1508760"/>
            <a:ext cx="502920" cy="502920"/>
          </a:xfrm>
          <a:prstGeom prst="ellipse">
            <a:avLst/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367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563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Employee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2514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102033"/>
                </a:solidFill>
              </a:rPr>
              <a:t>Public signup for employees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Secure login and role redirect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Submit reimbursement claims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View claim history and comments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Filter claims by status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462272" y="1243584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1508760"/>
            <a:ext cx="502920" cy="502920"/>
          </a:xfrm>
          <a:prstGeom prst="ellipse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367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0952" y="1563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73752" y="2148840"/>
            <a:ext cx="2514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102033"/>
                </a:solidFill>
              </a:rPr>
              <a:t>View assigned employee claims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Filter submitted, approved, rejected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Approve with optional note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Reject with mandatory reason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Track pending workload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284464" y="1243584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94776" y="1508760"/>
            <a:ext cx="502920" cy="502920"/>
          </a:xfrm>
          <a:prstGeom prst="ellipse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16367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53144" y="1563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Admin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95944" y="2148840"/>
            <a:ext cx="2514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102033"/>
                </a:solidFill>
              </a:rPr>
              <a:t>Create users across all roles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Assign or clear employee managers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View and delete users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Review all claims as fallback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Manage claim action workflow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Implementation Choices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Tech Stack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45389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041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4F46E5"/>
                </a:solidFill>
              </a:rPr>
              <a:t>Frontend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886968" y="18379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</a:rPr>
              <a:t>HTML5, CSS3, JavaScript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86968" y="216712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Responsive role dashboards, forms, tables, filters, modals, and toast alerts.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145389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5041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0B981"/>
                </a:solidFill>
              </a:rPr>
              <a:t>Backend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4636008" y="18379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</a:rPr>
              <a:t>Java 17, Spring Boot 4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636008" y="216712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REST controllers, service layer, DTO mapping, exception handling, request logging.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5048" y="145389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5041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B82F6"/>
                </a:solidFill>
              </a:rPr>
              <a:t>Security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8385048" y="18379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</a:rPr>
              <a:t>Spring Security, Basic Auth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8385048" y="216712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Authenticated /api access, password hashing, role-aware page routing.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606040" y="370332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07208" y="392277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97306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9E0B"/>
                </a:solidFill>
              </a:rPr>
              <a:t>Database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2807208" y="43068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</a:rPr>
              <a:t>PostgreSQL + JPA/Hibernate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2807208" y="463600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Users and claims persisted with relationships, enums, timestamps, and pagination.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492240" y="370332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93408" y="392277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97306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F4444"/>
                </a:solidFill>
              </a:rPr>
              <a:t>Testing &amp; Quality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693408" y="43068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</a:rPr>
              <a:t>JUnit 5, Mockito, MockMvc, H2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693408" y="463600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8"/>
                </a:solidFill>
              </a:rPr>
              <a:t>Controller, service, security, exception tests, JaCoCo, and Checkstyle.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Layered Application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Browser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" y="2633472"/>
            <a:ext cx="13533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HTML/CSS/JS pages: login, signup, admin, manager, employee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62656" y="23408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REST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80944" y="2633472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AuthController, UserController, ClaimController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074920" y="141732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02936" y="156362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21224" y="1856232"/>
            <a:ext cx="14447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Spring Security + Basic Auth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74920" y="297180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02936" y="31181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DTO + Mapper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21224" y="3410712"/>
            <a:ext cx="14447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request/response validation and mapping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60920" y="219456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07224" y="2633472"/>
            <a:ext cx="13533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ClaimServiceImpl and UserServiceImpl business rules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646920" y="219456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7493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Repository + 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93224" y="2633472"/>
            <a:ext cx="13533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JPA repositories over PostgreSQL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331720" y="2679192"/>
            <a:ext cx="48463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26280" y="2679192"/>
            <a:ext cx="52120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26280" y="2679192"/>
            <a:ext cx="521208" cy="70408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1828800"/>
            <a:ext cx="521208" cy="5943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12280" y="3383280"/>
            <a:ext cx="52120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06840" y="2679192"/>
            <a:ext cx="61264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60120" y="4892040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8"/>
                </a:solidFill>
              </a:rPr>
              <a:t>All API responses are wrapped in StandardAPIResponse&lt;T&gt;; errors are centralized through GlobalExceptionHandler.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Core Data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Entity-Relationship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3886200" cy="41605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600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80" dirty="0">
                <a:solidFill>
                  <a:srgbClr val="102033"/>
                </a:solidFill>
              </a:rPr>
              <a:t>id: Long (PK)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name: String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email: String (unique)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password: String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role: ADMIN | MANAGER | EMPLOYEE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manager_id: FK -&gt; users.id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406640" y="1325880"/>
            <a:ext cx="3886200" cy="41605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1600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CLAIMS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26680" y="2011680"/>
            <a:ext cx="324612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80" dirty="0">
                <a:solidFill>
                  <a:srgbClr val="102033"/>
                </a:solidFill>
              </a:rPr>
              <a:t>id: Long (PK)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amount: BigDecimal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claimDate: LocalDate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description: String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status: SUBMITTED | APPROVED | REJECTED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reviewerComment: String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employee_id: FK -&gt; users.id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reviewer_id: FK -&gt; users.id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46320" y="2514600"/>
            <a:ext cx="25146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57800" y="22402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B6778"/>
                </a:solidFill>
              </a:rPr>
              <a:t>1 employee submits many claims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360920" y="4069080"/>
            <a:ext cx="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248656" y="41879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B6778"/>
                </a:solidFill>
              </a:rPr>
              <a:t>1 reviewer acts on many claims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2286000" y="4736592"/>
            <a:ext cx="1097280" cy="73152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606040" y="55321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5B6778"/>
                </a:solidFill>
              </a:rPr>
              <a:t>manager hierarchy is self-referencing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Claim Lifecycle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Data Flow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" y="21122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1. 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" y="2404872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User authenticates and app stores Basic Auth token + role session.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514600" y="2450592"/>
            <a:ext cx="384048" cy="658368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2624328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54096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2. Submit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72384" y="3063240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Employee submits amount, date, description, and employeeId.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84048" cy="0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196596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94376" y="21122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3. Persist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12664" y="2404872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Claim is saved as SUBMITTED with employee and reviewer links.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995160" y="2450592"/>
            <a:ext cx="384048" cy="658368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624328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34656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4.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52944" y="3063240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Manager/Admin approves or rejects with reviewer comment.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235440" y="3108960"/>
            <a:ext cx="384048" cy="0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46920" y="196596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74936" y="21122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5. Track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93224" y="2404872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Employee, manager, and admin views refresh through paginated APIs.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188720" y="4617720"/>
            <a:ext cx="9784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36192" y="4901184"/>
            <a:ext cx="9052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</a:rPr>
              <a:t>Key backend endpoints: POST /api/claims, GET /api/claims/employee/{id}, GET /api/claims/reviewer/{id}, PUT /api/claims/{claimId}/action/{reviewerId}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Authentication and Employee Portal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Snapshots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507492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234440"/>
            <a:ext cx="5074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316736"/>
            <a:ext cx="4745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</a:rPr>
              <a:t>Login Screen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993392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</a:rPr>
              <a:t>ReimburseHub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23957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8"/>
                </a:solidFill>
              </a:rPr>
              <a:t>Sign in to your account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283464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95351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8"/>
                </a:solidFill>
              </a:rPr>
              <a:t>name@company.com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333756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4564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8"/>
                </a:solidFill>
              </a:rPr>
              <a:t>password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74520" y="3886200"/>
            <a:ext cx="2240280" cy="384048"/>
          </a:xfrm>
          <a:prstGeom prst="roundRect">
            <a:avLst>
              <a:gd name="adj" fmla="val 9524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4014216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Sign 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530352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316736"/>
            <a:ext cx="4974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</a:rPr>
              <a:t>Employee Portal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172200" y="1554480"/>
            <a:ext cx="123444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Submit Claim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2359152"/>
            <a:ext cx="1371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6778"/>
                </a:solidFill>
              </a:rPr>
              <a:t>Amount (INR)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18120" y="2542032"/>
            <a:ext cx="233172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926080"/>
            <a:ext cx="1371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6778"/>
                </a:solidFill>
              </a:rPr>
              <a:t>Claim Date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818120" y="3108960"/>
            <a:ext cx="233172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493008"/>
            <a:ext cx="1371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677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818120" y="3675888"/>
            <a:ext cx="23317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4407408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45171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Submit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26680" y="48920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B6778"/>
                </a:solidFill>
              </a:rPr>
              <a:t>Amount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59536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B6778"/>
                </a:solidFill>
              </a:rPr>
              <a:t>Date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418320" y="4892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B6778"/>
                </a:solidFill>
              </a:rPr>
              <a:t>Purpose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0744200" y="48920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B6778"/>
                </a:solidFill>
              </a:rPr>
              <a:t>Status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726680" y="5074920"/>
            <a:ext cx="310896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512064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102033"/>
                </a:solidFill>
              </a:rPr>
              <a:t>2450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8595360" y="512064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102033"/>
                </a:solidFill>
              </a:rPr>
              <a:t>20 May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9418320" y="5120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102033"/>
                </a:solidFill>
              </a:rPr>
              <a:t>Travel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10744200" y="512064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F59E0B"/>
                </a:solidFill>
              </a:rPr>
              <a:t>SUBMITTED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7726680" y="5385816"/>
            <a:ext cx="310896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543153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102033"/>
                </a:solidFill>
              </a:rPr>
              <a:t>3800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8595360" y="54315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102033"/>
                </a:solidFill>
              </a:rPr>
              <a:t>18 May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9418320" y="543153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102033"/>
                </a:solidFill>
              </a:rPr>
              <a:t>Training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10744200" y="543153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10B981"/>
                </a:solidFill>
              </a:rPr>
              <a:t>APPROVED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Manager and Admin Dashboards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Snapshots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50749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234440"/>
            <a:ext cx="5074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316736"/>
            <a:ext cx="4745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</a:rPr>
              <a:t>Manager Panel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713232" y="1554480"/>
            <a:ext cx="114300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920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</a:rPr>
              <a:t>Assigned Claims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395728"/>
            <a:ext cx="3154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5420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033"/>
                </a:solidFill>
              </a:rPr>
              <a:t>Rahul Verma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3474720" y="254203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8"/>
                </a:solidFill>
              </a:rPr>
              <a:t>INR 2,450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43400" y="2487168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53746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9E0B"/>
                </a:solidFill>
              </a:rPr>
              <a:t>SUBMITTED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148840" y="3200400"/>
            <a:ext cx="3154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34670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033"/>
                </a:solidFill>
              </a:rPr>
              <a:t>Aisha Khan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474720" y="33467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8"/>
                </a:solidFill>
              </a:rPr>
              <a:t>INR 3,800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43400" y="329184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33421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0B981"/>
                </a:solidFill>
              </a:rPr>
              <a:t>APPROVED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148840" y="4005072"/>
            <a:ext cx="3154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1513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033"/>
                </a:solidFill>
              </a:rPr>
              <a:t>Rahul Verma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474720" y="4151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8"/>
                </a:solidFill>
              </a:rPr>
              <a:t>INR 1,200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409651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6552" y="414680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F4444"/>
                </a:solidFill>
              </a:rPr>
              <a:t>REJECTED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2148840" y="4937760"/>
            <a:ext cx="96012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503834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Approve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493776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503834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Reject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72200" y="1234440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1316736"/>
            <a:ext cx="4974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</a:rPr>
              <a:t>Admin Panel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172200" y="1554480"/>
            <a:ext cx="114300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920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3524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3524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5B6778"/>
                </a:solidFill>
              </a:rPr>
              <a:t>Admins</a:t>
            </a:r>
            <a:endParaRPr lang="en-US" sz="520" dirty="0"/>
          </a:p>
        </p:txBody>
      </p:sp>
      <p:sp>
        <p:nvSpPr>
          <p:cNvPr id="39" name="Shape 37"/>
          <p:cNvSpPr/>
          <p:nvPr/>
        </p:nvSpPr>
        <p:spPr>
          <a:xfrm>
            <a:off x="845820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5B6778"/>
                </a:solidFill>
              </a:rPr>
              <a:t>Managers</a:t>
            </a:r>
            <a:endParaRPr lang="en-US" sz="520" dirty="0"/>
          </a:p>
        </p:txBody>
      </p:sp>
      <p:sp>
        <p:nvSpPr>
          <p:cNvPr id="42" name="Shape 40"/>
          <p:cNvSpPr/>
          <p:nvPr/>
        </p:nvSpPr>
        <p:spPr>
          <a:xfrm>
            <a:off x="928116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8116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5B6778"/>
                </a:solidFill>
              </a:rPr>
              <a:t>Employees</a:t>
            </a:r>
            <a:endParaRPr lang="en-US" sz="520" dirty="0"/>
          </a:p>
        </p:txBody>
      </p:sp>
      <p:sp>
        <p:nvSpPr>
          <p:cNvPr id="45" name="Shape 43"/>
          <p:cNvSpPr/>
          <p:nvPr/>
        </p:nvSpPr>
        <p:spPr>
          <a:xfrm>
            <a:off x="1010412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0412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0412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" dirty="0">
                <a:solidFill>
                  <a:srgbClr val="5B6778"/>
                </a:solidFill>
              </a:rPr>
              <a:t>Total</a:t>
            </a:r>
            <a:endParaRPr lang="en-US" sz="520" dirty="0"/>
          </a:p>
        </p:txBody>
      </p:sp>
      <p:sp>
        <p:nvSpPr>
          <p:cNvPr id="48" name="Shape 46"/>
          <p:cNvSpPr/>
          <p:nvPr/>
        </p:nvSpPr>
        <p:spPr>
          <a:xfrm>
            <a:off x="7635240" y="3310128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34564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2033"/>
                </a:solidFill>
              </a:rPr>
              <a:t>Admin User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8394192" y="360273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67344" y="3653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9E0B"/>
                </a:solidFill>
              </a:rPr>
              <a:t>ADMIN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9326880" y="3310128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34564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2033"/>
                </a:solidFill>
              </a:rPr>
              <a:t>Priya Sharma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0085832" y="360273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58984" y="3653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B82F6"/>
                </a:solidFill>
              </a:rPr>
              <a:t>MANAGER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7635240" y="40233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41696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2033"/>
                </a:solidFill>
              </a:rPr>
              <a:t>Rahul Verma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8394192" y="431596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67344" y="43662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0B981"/>
                </a:solidFill>
              </a:rPr>
              <a:t>EMPLOYEE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9326880" y="40233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64040" y="41696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02033"/>
                </a:solidFill>
              </a:rPr>
              <a:t>Aisha Khan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10085832" y="431596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58984" y="43662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0B981"/>
                </a:solidFill>
              </a:rPr>
              <a:t>EMPLOYEE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2FE"/>
                </a:solidFill>
              </a:rPr>
              <a:t>Reimbursement Portal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1EF"/>
                </a:solidFill>
              </a:rPr>
              <a:t>Built for a clear and auditable reimbursement workflow across employees, managers, and administrators.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43216" y="22951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Secure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61504" y="2587752"/>
            <a:ext cx="9418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role-based access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82396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51976" y="22951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Trackable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70264" y="2587752"/>
            <a:ext cx="9418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status history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033272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460736" y="22951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</a:rPr>
              <a:t>Auditable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79024" y="2587752"/>
            <a:ext cx="9418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B6778"/>
                </a:solidFill>
              </a:rPr>
              <a:t>review comments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Garv Singh Chouhan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5D8"/>
                </a:solidFill>
              </a:rPr>
              <a:t>Minor Capstone Project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Custom</PresentationFormat>
  <Paragraphs>267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NucleusTeq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Reimbursement Portal</dc:title>
  <dc:subject>Minor Capstone Project Presentation</dc:subject>
  <dc:creator>Garv Singh Chouhan</dc:creator>
  <cp:lastModifiedBy>Asus</cp:lastModifiedBy>
  <cp:revision>1</cp:revision>
  <dcterms:created xsi:type="dcterms:W3CDTF">2026-05-28T11:20:02Z</dcterms:created>
  <dcterms:modified xsi:type="dcterms:W3CDTF">2026-05-28T11:22:29Z</dcterms:modified>
</cp:coreProperties>
</file>